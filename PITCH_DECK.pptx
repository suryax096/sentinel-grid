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011680"/>
            <a:ext cx="32004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173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38BDF8"/>
                </a:solidFill>
                <a:latin typeface="Outfit"/>
              </a:defRPr>
            </a:pPr>
            <a:r>
              <a:t>SentinelMind AI</a:t>
            </a:r>
          </a:p>
          <a:p>
            <a:pPr>
              <a:spcBef>
                <a:spcPts val="1500"/>
              </a:spcBef>
              <a:defRPr sz="2200">
                <a:solidFill>
                  <a:srgbClr val="E2E8F0"/>
                </a:solidFill>
                <a:latin typeface="Outfit"/>
              </a:defRPr>
            </a:pPr>
            <a:r>
              <a:t>Autonomous Multi-Agent Threat Detection, Attribution, &amp; Response</a:t>
            </a:r>
          </a:p>
          <a:p>
            <a:pPr>
              <a:spcBef>
                <a:spcPts val="4500"/>
              </a:spcBef>
              <a:defRPr sz="1400">
                <a:solidFill>
                  <a:srgbClr val="94A3B8"/>
                </a:solidFill>
                <a:latin typeface="Outfit"/>
              </a:defRPr>
            </a:pPr>
            <a:r>
              <a:t>ET AI Hackathon 2026  |  Problem Statement 7  |  Submission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The Cyber Security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59E0B"/>
                </a:solidFill>
              </a:defRPr>
            </a:pPr>
            <a:r>
              <a:t>❌ The Industry Status Quo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Static Rules Fall Short: Legacy firewalls and SIEM systems rely on signature matches, letting zero-day exploits slide past.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Attribution Blindspots: Detections lack context. Security teams receive alerts but cannot match them to actual adversary techniques.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Response Starvation: Alert fatigue delays responses. Hand-crafted actions are slow, while un-gated scripts risk breaking business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🛡️ The SentinelMind AI Solution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Unsupervised Anomaly Detection: Learns 'normal' baseline network behavior to isolate unknown traffic profiles.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Semantic Threat Intelligence Mapping: Automatically translates raw connection metrics into named MITRE ATT&amp;CK techniques.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Automated Gated Action: Triggers instant, blast-radius-aware mitigations, asking for human approval before high-impact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Autonomous Three-Agent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918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800" b="1">
                <a:solidFill>
                  <a:srgbClr val="38BDF8"/>
                </a:solidFill>
              </a:defRPr>
            </a:pPr>
            <a:r>
              <a:t>HERO AGENT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Anomaly Detection Engine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200" b="1">
                <a:solidFill>
                  <a:srgbClr val="38BDF8"/>
                </a:solidFill>
              </a:defRPr>
            </a:pPr>
            <a:r>
              <a:t>Tech Stack: Isolation Forest Model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Ingests raw network connection metrics.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Scores connection anomaly based on outliers.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Computes Z-scores for every connection attribute to flag specific network indicator deviations.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5740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800" b="1">
                <a:solidFill>
                  <a:srgbClr val="38BDF8"/>
                </a:solidFill>
              </a:defRPr>
            </a:pPr>
            <a:r>
              <a:t>ATTRIBUTION AGENT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Threat Semantic Classifier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200" b="1">
                <a:solidFill>
                  <a:srgbClr val="F59E0B"/>
                </a:solidFill>
              </a:defRPr>
            </a:pPr>
            <a:r>
              <a:t>Tech Stack: ChromaDB &amp; Gemini API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Translates raw anomalous attributes to clear security text descriptions.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Matches descriptions semantically with ChromaDB vector index of MITRE ATT&amp;CK techniques.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Optionally uses Gemini 1.5 Flash to validate candidates.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828800"/>
            <a:ext cx="32918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05740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800" b="1">
                <a:solidFill>
                  <a:srgbClr val="38BDF8"/>
                </a:solidFill>
              </a:defRPr>
            </a:pPr>
            <a:r>
              <a:t>SUPPORTING AGENT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Playbook Orchestrator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200" b="1">
                <a:solidFill>
                  <a:srgbClr val="22C55E"/>
                </a:solidFill>
              </a:defRPr>
            </a:pPr>
            <a:r>
              <a:t>Tech Stack: Decision State Machine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Looks up target asset details, owners, and active vulnerability profiles (CVEs).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Applies risk scoring: risk = (anomaly score * 6.0) + (asset criticality weight).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</a:defRPr>
            </a:pPr>
            <a:r>
              <a:t>• Triggers auto-execution or gates actions for manual SOC analyst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MACHINE LEARNING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Hero Agent: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How the Model Operates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Unsupervised Approach: Trained on raw connection flows from the standard NSL-KDD dataset, filtering to baseline clean/normal records only.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Feature Engineering: Real-time calculation of logarithmic duration and size, outbound/inbound ratios, and connection service frequency.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Deviation Profiling: Calculates Z-score outliers against the training population to generate detailed security indicator tags.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194560"/>
            <a:ext cx="43891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F59E0B"/>
                </a:solidFill>
              </a:defRPr>
            </a:pPr>
            <a:r>
              <a:t>Holdout Set Evaluation Metrics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Precision: </a:t>
            </a:r>
            <a:r>
              <a:rPr sz="1500" b="1">
                <a:solidFill>
                  <a:srgbClr val="38BDF8"/>
                </a:solidFill>
              </a:rPr>
              <a:t>95.82%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(Low false alarm rate on clean connections)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Recall (Sensitivity): </a:t>
            </a:r>
            <a:r>
              <a:rPr sz="1500" b="1">
                <a:solidFill>
                  <a:srgbClr val="38BDF8"/>
                </a:solidFill>
              </a:rPr>
              <a:t>74.47%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(Successfully detects hidden malicious flows)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F1-Score: </a:t>
            </a:r>
            <a:r>
              <a:rPr sz="1500" b="1">
                <a:solidFill>
                  <a:srgbClr val="38BDF8"/>
                </a:solidFill>
              </a:rPr>
              <a:t>0.8381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(High harmonic average performance profile)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False Positive Rate: </a:t>
            </a:r>
            <a:r>
              <a:rPr sz="1500" b="1">
                <a:solidFill>
                  <a:srgbClr val="38BDF8"/>
                </a:solidFill>
              </a:rPr>
              <a:t>4.29%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 (Less than 5% normal traffic flagged)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THREAT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Attribution Agent: Threat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Bridging ML Outliers to Adversary Context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Feature Translation: Maps flagged indicators (e.g. serror_rate, wrong_fragment) to natural English descriptions of threat behaviors.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ChromaDB Indexing: Embedded all primary MITRE ATT&amp;CK techniques using 'all-MiniLM-L6-v2' (generating 384-dimension vector embeddings).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Semantic Search: Queries the database with the threat text profile to find the top 3 closest matching ATT&amp;CK candidates.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194560"/>
            <a:ext cx="43891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F59E0B"/>
                </a:solidFill>
              </a:defRPr>
            </a:pPr>
            <a:r>
              <a:t>Dual-Mode Resolution Engine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1. High-Fidelity LLM Mode (API Connected)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Validates search candidates using Gemini 1.5 Flash. Cross-references indicators and outputs a JSON object with final technique selection and a detailed context rationale.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2. Local Similarity Mode (Offline Fallback)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If no API keys are set, attributes automatically to the top semantic vector search candidate. This maintains 100% functionality without internet connections.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INCIDENT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Supporting Agent: Gated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Risk-Prioritized Response Planning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Dynamic Risk Formula: risk = (anomaly score * 6.0) + (criticality weight), generating a standardized risk score scaling from 0 to 10.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Asset Awareness: Integrates with an asset inventory database mapping device owners, IP subnets, and active CVE profiles.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CVE Priority Override: Automatically bumps anomaly threshold parameters if targeting an asset with unpatched vulnerabilities.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194560"/>
            <a:ext cx="43891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9E0B"/>
                </a:solidFill>
              </a:defRPr>
            </a:pPr>
            <a:r>
              <a:t>Orchestrated Response Matrix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[Risk &gt;= 8.5] </a:t>
            </a:r>
            <a:r>
              <a:rPr b="1">
                <a:solidFill>
                  <a:srgbClr val="E2E8F0"/>
                </a:solidFill>
              </a:rPr>
              <a:t>Isolate Endpoint  </a:t>
            </a:r>
            <a:r>
              <a:rPr i="1">
                <a:solidFill>
                  <a:srgbClr val="EF4444"/>
                </a:solidFill>
              </a:rPr>
              <a:t>(Manual SOC Approval Required)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[Risk &gt;= 7.0] </a:t>
            </a:r>
            <a:r>
              <a:rPr b="1">
                <a:solidFill>
                  <a:srgbClr val="E2E8F0"/>
                </a:solidFill>
              </a:rPr>
              <a:t>Revoke Active Sessions  </a:t>
            </a:r>
            <a:r>
              <a:rPr i="1">
                <a:solidFill>
                  <a:srgbClr val="EF4444"/>
                </a:solidFill>
              </a:rPr>
              <a:t>(Manual SOC Approval Required)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[Risk &gt;= 5.5] </a:t>
            </a:r>
            <a:r>
              <a:rPr b="1">
                <a:solidFill>
                  <a:srgbClr val="E2E8F0"/>
                </a:solidFill>
              </a:rPr>
              <a:t>Rate Limit IP Address  </a:t>
            </a:r>
            <a:r>
              <a:rPr i="1">
                <a:solidFill>
                  <a:srgbClr val="22C55E"/>
                </a:solidFill>
              </a:rPr>
              <a:t>(Auto-Executed)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[Risk &gt;= 4.0] </a:t>
            </a:r>
            <a:r>
              <a:rPr b="1">
                <a:solidFill>
                  <a:srgbClr val="E2E8F0"/>
                </a:solidFill>
              </a:rPr>
              <a:t>Snapshot VM State  </a:t>
            </a:r>
            <a:r>
              <a:rPr i="1">
                <a:solidFill>
                  <a:srgbClr val="22C55E"/>
                </a:solidFill>
              </a:rPr>
              <a:t>(Auto-Executed)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[Risk &lt; 4.0] </a:t>
            </a:r>
            <a:r>
              <a:rPr b="1">
                <a:solidFill>
                  <a:srgbClr val="E2E8F0"/>
                </a:solidFill>
              </a:rPr>
              <a:t>Log anomaly &amp; flag alert  </a:t>
            </a:r>
            <a:r>
              <a:rPr i="1">
                <a:solidFill>
                  <a:srgbClr val="22C55E"/>
                </a:solidFill>
              </a:rPr>
              <a:t>(Auto-Executed)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OPERATIONS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SOC Analyst Threat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Streamlit Operations Dashboard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Live Threat Feed: Real-time table viewing connection alerts, timestamps, severity scores, and attributed techniques.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Interactive Timeline: Interactive scatter plot showing threat scoring history to monitor temporal surges.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Gated Approval Queue: Clear card console allowing SOC analysts to approve, override, or dismiss pending high blast-radius actions.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MITRE Vector Sandbox: Search playground enabling analysts to input raw text queries to test ChromaDB semantic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743200"/>
            <a:ext cx="43891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500"/>
              </a:spcAft>
              <a:defRPr sz="2200" b="1">
                <a:solidFill>
                  <a:srgbClr val="F59E0B"/>
                </a:solidFill>
              </a:defRPr>
            </a:pPr>
            <a:r>
              <a:t>💻 Interactive SOC Terminal</a:t>
            </a:r>
          </a:p>
          <a:p>
            <a:pPr algn="ctr">
              <a:defRPr sz="1400">
                <a:solidFill>
                  <a:srgbClr val="E2E8F0"/>
                </a:solidFill>
              </a:defRPr>
            </a:pPr>
            <a:r>
              <a:t>Visual dashboard running stream-lit on port 8501. Directly queries the local SQLite database for threat data 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VALIDATION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Quantitative 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Robust Model Performance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Tested on Holdout Dataset: Evaluated on test holdout set (~22,000 instances) to reflect real deployment distributions.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Local Semantic Matching: Obtained 65% correct classification matches on hard-constructed scenarios using vector matching alone.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Volumetric Scan Success: 99.59% detection rate of probe/scanning attacks, and 88.13% of DoS traffic flows blocked.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194560"/>
            <a:ext cx="43891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F59E0B"/>
                </a:solidFill>
              </a:defRPr>
            </a:pPr>
            <a:r>
              <a:t>Performance Metrics Summary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Normal Traffic Isolation Rate: </a:t>
            </a:r>
            <a:r>
              <a:rPr b="1">
                <a:solidFill>
                  <a:srgbClr val="38BDF8"/>
                </a:solidFill>
              </a:rPr>
              <a:t>95.71%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Probe Attack Detection Rate: </a:t>
            </a:r>
            <a:r>
              <a:rPr b="1">
                <a:solidFill>
                  <a:srgbClr val="38BDF8"/>
                </a:solidFill>
              </a:rPr>
              <a:t>99.59%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DoS Attack Detection Rate: </a:t>
            </a:r>
            <a:r>
              <a:rPr b="1">
                <a:solidFill>
                  <a:srgbClr val="38BDF8"/>
                </a:solidFill>
              </a:rPr>
              <a:t>88.13%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Overall Anomaly F1-Score: </a:t>
            </a:r>
            <a:r>
              <a:rPr b="1">
                <a:solidFill>
                  <a:srgbClr val="38BDF8"/>
                </a:solidFill>
              </a:rPr>
              <a:t>0.8381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Semantic Attribution Accuracy: </a:t>
            </a:r>
            <a:r>
              <a:rPr b="1">
                <a:solidFill>
                  <a:srgbClr val="38BDF8"/>
                </a:solidFill>
              </a:rPr>
              <a:t>65.00%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SENTINELMIND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Platform Architecture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⚡ Zero-Day Identification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Detects novel threats without signatures by modeling normal network behaviors using unsupervised Isolation Forests.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82880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11112" y="205740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🔍 Context-Rich Alerts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Enriches every single alert with named MITRE ATT&amp;CK techniques, detailed prose descriptions, and full decision trails.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02336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🔒 Human-in-the-Loop Safety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High blast-radius playbooks are automatically gated, letting analysts review metrics before executing network isolation.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402336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425196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🛠️ Modular Technical Stack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Uses light FastAPI services, persistent ChromaDB collections, sqlite3 storage, and an elegant Streamlit frontend.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Outfit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Outfit"/>
              </a:defRPr>
            </a:pPr>
            <a:r>
              <a:t>Hackathon Submission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38BDF8"/>
                </a:solidFill>
              </a:defRPr>
            </a:pPr>
            <a:r>
              <a:t>Submission-Ready Package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Fully Operational Codebase: Complete microservices, schema-validated alert pipeline, and live Streamlit interface.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Standardized Benchmarks: Evaluation results documented on both ML performance and threat attribution profiles.</a:t>
            </a:r>
          </a:p>
          <a:p>
            <a:pPr>
              <a:spcAft>
                <a:spcPts val="1500"/>
              </a:spcAft>
              <a:defRPr sz="1400">
                <a:solidFill>
                  <a:srgbClr val="E2E8F0"/>
                </a:solidFill>
              </a:defRPr>
            </a:pPr>
            <a:r>
              <a:t>Documentation Complete: In-depth setup instructions, Mermaid architecture files, and design limitations recorded.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828800"/>
            <a:ext cx="512064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2194560"/>
            <a:ext cx="43891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F59E0B"/>
                </a:solidFill>
              </a:defRPr>
            </a:pPr>
            <a:r>
              <a:t>Platform Future Roadmap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• Production SIEM Integration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Connecting ingest pipelines directly to active enterprise agents (Splunk, Elastic).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• Reinforcement Learning Mitigations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Training secondary agents to tune playbook blast-radius decisions based on human feedback loops.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• Multi-Protocol Pipeline Scaling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</a:defRPr>
            </a:pPr>
            <a:r>
              <a:t>Scaling parsing capabilities to support DNS, HTTP/HTTPS payload inspections, and raw PCAP captures.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